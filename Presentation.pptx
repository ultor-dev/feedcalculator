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16"/>
  </p:notesMasterIdLst>
  <p:handoutMasterIdLst>
    <p:handoutMasterId r:id="rId17"/>
  </p:handoutMasterIdLst>
  <p:sldIdLst>
    <p:sldId id="267" r:id="rId5"/>
    <p:sldId id="284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99" autoAdjust="0"/>
  </p:normalViewPr>
  <p:slideViewPr>
    <p:cSldViewPr>
      <p:cViewPr>
        <p:scale>
          <a:sx n="75" d="100"/>
          <a:sy n="75" d="100"/>
        </p:scale>
        <p:origin x="1896" y="85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01114579-D02A-4B51-B5DF-8EC449F77AC7}" type="slidenum">
              <a:rPr/>
              <a:pPr rtl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Заполнитель заме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Щелкните, чтобы изменить стили текста образца слайда</a:t>
            </a:r>
          </a:p>
          <a:p>
            <a:pPr lvl="1" rtl="0"/>
            <a:r>
              <a:t>Второй уровень</a:t>
            </a:r>
          </a:p>
          <a:p>
            <a:pPr lvl="2" rtl="0"/>
            <a:r>
              <a:t>Третий уровень</a:t>
            </a:r>
          </a:p>
          <a:p>
            <a:pPr lvl="3" rtl="0"/>
            <a:r>
              <a:t>Четвертый уровень</a:t>
            </a:r>
          </a:p>
          <a:p>
            <a:pPr lvl="4" rtl="0"/>
            <a:r>
              <a:t>Пятый уровень</a:t>
            </a:r>
          </a:p>
        </p:txBody>
      </p:sp>
      <p:sp>
        <p:nvSpPr>
          <p:cNvPr id="6" name="Заполнитель нижне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C6074690-7256-4BB9-AC0F-97AEAE8CDEC2}" type="slidenum">
              <a:rPr/>
              <a:pPr rtl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28" y="97104"/>
            <a:ext cx="4133280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99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489" y="4492488"/>
            <a:ext cx="3348879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2741" y="0"/>
            <a:ext cx="781608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30" y="6338704"/>
            <a:ext cx="2196127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048" y="6338704"/>
            <a:ext cx="1392215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5264" y="6342302"/>
            <a:ext cx="42909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920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87" y="1709862"/>
            <a:ext cx="10960801" cy="45137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38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4347" y="1411359"/>
            <a:ext cx="3887397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399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4345" y="4403039"/>
            <a:ext cx="3887397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2339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4345" y="6343956"/>
            <a:ext cx="2099935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5310" y="6343956"/>
            <a:ext cx="14747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01.08.2016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125" y="6343956"/>
            <a:ext cx="42909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838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488" y="1143001"/>
            <a:ext cx="8681492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998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488" y="4498848"/>
            <a:ext cx="6879665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799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488" y="6343956"/>
            <a:ext cx="2804674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9368" y="6343956"/>
            <a:ext cx="2874315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88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29" y="1869104"/>
            <a:ext cx="9334610" cy="4906929"/>
          </a:xfrm>
        </p:spPr>
        <p:txBody>
          <a:bodyPr>
            <a:normAutofit/>
          </a:bodyPr>
          <a:lstStyle>
            <a:lvl1pPr>
              <a:defRPr sz="739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488" y="137389"/>
            <a:ext cx="2804674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613" y="137389"/>
            <a:ext cx="2202070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4194" y="137389"/>
            <a:ext cx="42909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454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95" y="105196"/>
            <a:ext cx="9021211" cy="2113392"/>
          </a:xfrm>
        </p:spPr>
        <p:txBody>
          <a:bodyPr anchor="t">
            <a:normAutofit/>
          </a:bodyPr>
          <a:lstStyle>
            <a:lvl1pPr>
              <a:defRPr sz="7198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487" y="2484255"/>
            <a:ext cx="8465353" cy="3539514"/>
          </a:xfrm>
        </p:spPr>
        <p:txBody>
          <a:bodyPr>
            <a:normAutofit/>
          </a:bodyPr>
          <a:lstStyle>
            <a:lvl1pPr marL="457063" indent="-457063">
              <a:buFont typeface="+mj-lt"/>
              <a:buAutoNum type="arabicPeriod"/>
              <a:defRPr sz="1799"/>
            </a:lvl1pPr>
            <a:lvl2pPr marL="685594" indent="-457063">
              <a:buFont typeface="+mj-lt"/>
              <a:buAutoNum type="arabicPeriod"/>
              <a:defRPr sz="1600"/>
            </a:lvl2pPr>
            <a:lvl3pPr marL="799860" indent="-342797">
              <a:buFont typeface="+mj-lt"/>
              <a:buAutoNum type="arabicPeriod"/>
              <a:defRPr sz="1400"/>
            </a:lvl3pPr>
            <a:lvl4pPr marL="1028391" indent="-342797">
              <a:buFont typeface="+mj-lt"/>
              <a:buAutoNum type="arabicPeriod"/>
              <a:defRPr sz="1400"/>
            </a:lvl4pPr>
            <a:lvl5pPr marL="1256923" indent="-342797">
              <a:buFont typeface="+mj-lt"/>
              <a:buAutoNum type="arabicPeriod"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38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9802" y="73742"/>
            <a:ext cx="6861709" cy="2220726"/>
          </a:xfrm>
        </p:spPr>
        <p:txBody>
          <a:bodyPr anchor="t">
            <a:normAutofit/>
          </a:bodyPr>
          <a:lstStyle>
            <a:lvl1pPr>
              <a:defRPr sz="7198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" y="0"/>
            <a:ext cx="4564402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6545" y="2726268"/>
            <a:ext cx="5914966" cy="3436789"/>
          </a:xfrm>
        </p:spPr>
        <p:txBody>
          <a:bodyPr>
            <a:normAutofit/>
          </a:bodyPr>
          <a:lstStyle>
            <a:lvl1pPr marL="457063" indent="-457063">
              <a:buFont typeface="+mj-lt"/>
              <a:buAutoNum type="arabicPeriod"/>
              <a:defRPr sz="1999"/>
            </a:lvl1pPr>
            <a:lvl2pPr marL="571329" indent="-342797">
              <a:buFont typeface="+mj-lt"/>
              <a:buAutoNum type="arabicPeriod"/>
              <a:defRPr sz="1799"/>
            </a:lvl2pPr>
            <a:lvl3pPr marL="799860" indent="-342797">
              <a:buFont typeface="+mj-lt"/>
              <a:buAutoNum type="arabicPeriod"/>
              <a:defRPr sz="1600"/>
            </a:lvl3pPr>
            <a:lvl4pPr marL="1028391" indent="-342797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6545" y="6343956"/>
            <a:ext cx="2984623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3402" y="6343956"/>
            <a:ext cx="1552704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4194" y="6343956"/>
            <a:ext cx="42909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279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19" y="1388700"/>
            <a:ext cx="3922433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4668" y="1389135"/>
            <a:ext cx="6043816" cy="4083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224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6" y="707550"/>
            <a:ext cx="3348882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499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6990" y="708184"/>
            <a:ext cx="6926299" cy="55148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05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669" y="612648"/>
            <a:ext cx="6424715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59266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26" y="1978488"/>
            <a:ext cx="6417263" cy="4285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4668" y="6343956"/>
            <a:ext cx="3364027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28361" y="6343956"/>
            <a:ext cx="2060271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4194" y="6343956"/>
            <a:ext cx="42909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03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0962" y="474177"/>
            <a:ext cx="694842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23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0962" y="1627632"/>
            <a:ext cx="6948422" cy="468622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0962" y="6343956"/>
            <a:ext cx="3422015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3370" y="6343956"/>
            <a:ext cx="2150313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4194" y="6343956"/>
            <a:ext cx="42909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368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7" y="475488"/>
            <a:ext cx="6856214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487" y="1627632"/>
            <a:ext cx="6856214" cy="453537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488" y="6346871"/>
            <a:ext cx="2804674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4782" y="6346871"/>
            <a:ext cx="2924825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39607" y="6346871"/>
            <a:ext cx="42909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89625" y="0"/>
            <a:ext cx="409919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8064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90" y="420623"/>
            <a:ext cx="449301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16" y="1975104"/>
            <a:ext cx="4492893" cy="415695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17" y="6343956"/>
            <a:ext cx="20980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2815" y="6343956"/>
            <a:ext cx="1572627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5409" y="6343956"/>
            <a:ext cx="42909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7454" y="0"/>
            <a:ext cx="6531371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3874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36" y="429768"/>
            <a:ext cx="3656648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62" y="2315570"/>
            <a:ext cx="3656648" cy="3814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537" y="6343956"/>
            <a:ext cx="1636911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2743" y="6343956"/>
            <a:ext cx="949519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2262" y="6343956"/>
            <a:ext cx="42909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3813" y="0"/>
            <a:ext cx="72950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7013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746" y="929555"/>
            <a:ext cx="2698551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499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4155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6740" y="3011335"/>
            <a:ext cx="2692645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531" indent="0">
              <a:buNone/>
              <a:defRPr lang="en-US" dirty="0"/>
            </a:lvl2pPr>
            <a:lvl3pPr marL="457063" indent="0">
              <a:buNone/>
              <a:defRPr lang="en-US" dirty="0"/>
            </a:lvl3pPr>
            <a:lvl4pPr marL="685594" indent="0">
              <a:buNone/>
              <a:defRPr lang="en-US" dirty="0"/>
            </a:lvl4pPr>
            <a:lvl5pPr marL="914126" indent="0"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5747" y="6343956"/>
            <a:ext cx="1404094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9842" y="6343956"/>
            <a:ext cx="85435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01.08.2016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4194" y="6343956"/>
            <a:ext cx="42909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382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6" y="4162318"/>
            <a:ext cx="3044161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499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88825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1297" y="4162319"/>
            <a:ext cx="7458086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531" indent="0">
              <a:buNone/>
              <a:defRPr lang="en-US" dirty="0"/>
            </a:lvl2pPr>
            <a:lvl3pPr marL="457063" indent="0">
              <a:buNone/>
              <a:defRPr lang="en-US" dirty="0"/>
            </a:lvl3pPr>
            <a:lvl4pPr marL="685594" indent="0">
              <a:buNone/>
              <a:defRPr lang="en-US" dirty="0"/>
            </a:lvl4pPr>
            <a:lvl5pPr marL="914126" indent="0"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769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559341"/>
            <a:ext cx="10966896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488" y="1912399"/>
            <a:ext cx="4636061" cy="42076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487" y="6343956"/>
            <a:ext cx="2642244" cy="365125"/>
          </a:xfrm>
        </p:spPr>
        <p:txBody>
          <a:bodyPr/>
          <a:lstStyle/>
          <a:p>
            <a:pPr rtl="0"/>
            <a:endParaRPr lang="ru-RU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5727" y="1912939"/>
            <a:ext cx="5740497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4073" y="6343956"/>
            <a:ext cx="1449319" cy="365125"/>
          </a:xfrm>
        </p:spPr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3393" y="6343956"/>
            <a:ext cx="442945" cy="365125"/>
          </a:xfrm>
        </p:spPr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8724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9" y="706802"/>
            <a:ext cx="4671367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281" y="2173850"/>
            <a:ext cx="4563574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4025" y="732156"/>
            <a:ext cx="5675360" cy="540537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0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1" y="4893733"/>
            <a:ext cx="9759526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599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746" y="484095"/>
            <a:ext cx="10540286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699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01.08.2016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880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-1133856"/>
            <a:ext cx="10649986" cy="914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49" y="42335"/>
            <a:ext cx="11514040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7998" b="1"/>
            </a:lvl1pPr>
            <a:lvl2pPr marL="228531" indent="0">
              <a:lnSpc>
                <a:spcPct val="90000"/>
              </a:lnSpc>
              <a:buNone/>
              <a:defRPr sz="7198" b="1"/>
            </a:lvl2pPr>
            <a:lvl3pPr marL="457063" indent="0">
              <a:lnSpc>
                <a:spcPct val="90000"/>
              </a:lnSpc>
              <a:buNone/>
              <a:defRPr sz="6598" b="1"/>
            </a:lvl3pPr>
            <a:lvl4pPr marL="685594" indent="0">
              <a:lnSpc>
                <a:spcPct val="90000"/>
              </a:lnSpc>
              <a:buNone/>
              <a:defRPr sz="5998" b="1"/>
            </a:lvl4pPr>
            <a:lvl5pPr marL="914126" indent="0">
              <a:lnSpc>
                <a:spcPct val="90000"/>
              </a:lnSpc>
              <a:buNone/>
              <a:defRPr sz="5398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696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226" y="5029200"/>
            <a:ext cx="9196468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999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226" y="1188720"/>
            <a:ext cx="9196468" cy="3332480"/>
          </a:xfrm>
        </p:spPr>
        <p:txBody>
          <a:bodyPr anchor="ctr">
            <a:normAutofit/>
          </a:bodyPr>
          <a:lstStyle>
            <a:lvl1pPr marL="164543" indent="-164543">
              <a:lnSpc>
                <a:spcPct val="100000"/>
              </a:lnSpc>
              <a:spcBef>
                <a:spcPts val="0"/>
              </a:spcBef>
              <a:buNone/>
              <a:defRPr sz="4799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7507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512064"/>
            <a:ext cx="10738355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616" y="1825625"/>
            <a:ext cx="5073598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6929" y="1825625"/>
            <a:ext cx="5073915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0579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2064"/>
            <a:ext cx="10742990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441" y="1685735"/>
            <a:ext cx="507359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" y="2387600"/>
            <a:ext cx="5073916" cy="37861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33" y="1685735"/>
            <a:ext cx="507359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197" y="2387600"/>
            <a:ext cx="5074234" cy="37861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0619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512064"/>
            <a:ext cx="10960801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6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2164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70" y="89808"/>
            <a:ext cx="11459018" cy="2514600"/>
          </a:xfrm>
        </p:spPr>
        <p:txBody>
          <a:bodyPr anchor="t">
            <a:normAutofit/>
          </a:bodyPr>
          <a:lstStyle>
            <a:lvl1pPr>
              <a:defRPr sz="719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15" y="3118757"/>
            <a:ext cx="10960673" cy="2620736"/>
          </a:xfrm>
        </p:spPr>
        <p:txBody>
          <a:bodyPr/>
          <a:lstStyle>
            <a:lvl1pPr marL="0" indent="0">
              <a:buNone/>
              <a:defRPr/>
            </a:lvl1pPr>
            <a:lvl2pPr marL="228531" indent="0">
              <a:buNone/>
              <a:defRPr/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58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1627318"/>
            <a:ext cx="8428571" cy="1842020"/>
          </a:xfrm>
        </p:spPr>
        <p:txBody>
          <a:bodyPr anchor="b">
            <a:noAutofit/>
          </a:bodyPr>
          <a:lstStyle>
            <a:lvl1pPr>
              <a:defRPr sz="719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16" y="3622674"/>
            <a:ext cx="8428444" cy="1608008"/>
          </a:xfrm>
        </p:spPr>
        <p:txBody>
          <a:bodyPr>
            <a:normAutofit/>
          </a:bodyPr>
          <a:lstStyle>
            <a:lvl1pPr marL="0" indent="0">
              <a:buNone/>
              <a:defRPr sz="1799"/>
            </a:lvl1pPr>
            <a:lvl2pPr marL="228531" indent="0">
              <a:buNone/>
              <a:defRPr sz="1600"/>
            </a:lvl2pPr>
            <a:lvl3pPr marL="457063" indent="0">
              <a:buNone/>
              <a:defRPr sz="1400"/>
            </a:lvl3pPr>
            <a:lvl4pPr marL="685594" indent="0">
              <a:buNone/>
              <a:defRPr sz="1400"/>
            </a:lvl4pPr>
            <a:lvl5pPr marL="914126" indent="0">
              <a:buNone/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01.08.2016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668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b">
            <a:normAutofit/>
          </a:bodyPr>
          <a:lstStyle>
            <a:lvl1pPr algn="l" rtl="0">
              <a:defRPr sz="3200" b="0"/>
            </a:lvl1pPr>
          </a:lstStyle>
          <a:p>
            <a:pPr rtl="0"/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8883" y="1803400"/>
            <a:ext cx="6602281" cy="4267201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 baseline="0"/>
            </a:lvl8pPr>
            <a:lvl9pPr algn="l" rtl="0">
              <a:defRPr sz="1600" baseline="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8125883" y="1803400"/>
            <a:ext cx="2844060" cy="4267201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600"/>
              </a:spcBef>
              <a:buNone/>
              <a:defRPr sz="20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/>
              <a:pPr rtl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150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22945" y="1803400"/>
            <a:ext cx="4769806" cy="711200"/>
          </a:xfrm>
        </p:spPr>
        <p:txBody>
          <a:bodyPr rtlCol="0" anchor="ctr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2000" b="1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18883" y="2514600"/>
            <a:ext cx="4773956" cy="3556000"/>
          </a:xfrm>
        </p:spPr>
        <p:txBody>
          <a:bodyPr rtlCol="0">
            <a:normAutofit/>
          </a:bodyPr>
          <a:lstStyle>
            <a:lvl1pPr algn="l" rtl="0">
              <a:spcBef>
                <a:spcPts val="1600"/>
              </a:spcBef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200049" y="1803400"/>
            <a:ext cx="4769806" cy="711200"/>
          </a:xfrm>
        </p:spPr>
        <p:txBody>
          <a:bodyPr rtlCol="0" anchor="ctr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2000" b="1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5986" y="2514600"/>
            <a:ext cx="4773956" cy="3556000"/>
          </a:xfrm>
        </p:spPr>
        <p:txBody>
          <a:bodyPr rtlCol="0">
            <a:normAutofit/>
          </a:bodyPr>
          <a:lstStyle>
            <a:lvl1pPr algn="l" rtl="0">
              <a:spcBef>
                <a:spcPts val="1600"/>
              </a:spcBef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/>
              <a:pPr rtl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75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типа объек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218883" y="1803400"/>
            <a:ext cx="4773956" cy="42672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800"/>
            </a:lvl6pPr>
            <a:lvl7pPr algn="l" rtl="0">
              <a:defRPr sz="1800"/>
            </a:lvl7pPr>
            <a:lvl8pPr algn="l" rtl="0">
              <a:defRPr sz="1800"/>
            </a:lvl8pPr>
            <a:lvl9pPr algn="l" rtl="0">
              <a:defRPr sz="18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5986" y="1803400"/>
            <a:ext cx="4773956" cy="42672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800"/>
            </a:lvl6pPr>
            <a:lvl7pPr algn="l" rtl="0">
              <a:defRPr sz="1800"/>
            </a:lvl7pPr>
            <a:lvl8pPr algn="l" rtl="0">
              <a:defRPr sz="1800" baseline="0"/>
            </a:lvl8pPr>
            <a:lvl9pPr algn="l" rtl="0">
              <a:defRPr sz="1800" baseline="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/>
              <a:pPr rtl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65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2030" y="990599"/>
            <a:ext cx="9344765" cy="2235203"/>
          </a:xfrm>
        </p:spPr>
        <p:txBody>
          <a:bodyPr rtlCol="0" anchor="b">
            <a:normAutofit/>
          </a:bodyPr>
          <a:lstStyle>
            <a:lvl1pPr algn="ctr" rtl="0">
              <a:lnSpc>
                <a:spcPct val="90000"/>
              </a:lnSpc>
              <a:defRPr sz="4800" b="0" cap="none" baseline="0"/>
            </a:lvl1pPr>
          </a:lstStyle>
          <a:p>
            <a:pPr rtl="0"/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22030" y="3733800"/>
            <a:ext cx="9344765" cy="1219200"/>
          </a:xfrm>
        </p:spPr>
        <p:txBody>
          <a:bodyPr rtlCol="0" anchor="t"/>
          <a:lstStyle>
            <a:lvl1pPr marL="0" indent="0" algn="ctr" rtl="0"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/>
              <a:pPr rtl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234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9" y="514650"/>
            <a:ext cx="10960800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487" y="1709862"/>
            <a:ext cx="10960801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488" y="6343956"/>
            <a:ext cx="28046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pPr rtl="0"/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1613" y="6343956"/>
            <a:ext cx="22020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01.08.2016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4194" y="6343956"/>
            <a:ext cx="4290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 rtl="0"/>
            <a:fld id="{DF28FB93-0A08-4E7D-8E63-9EFA29F1E093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460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  <p:sldLayoutId id="2147483792" r:id="rId24"/>
    <p:sldLayoutId id="2147483793" r:id="rId25"/>
    <p:sldLayoutId id="2147483794" r:id="rId26"/>
    <p:sldLayoutId id="2147483795" r:id="rId27"/>
    <p:sldLayoutId id="2147483796" r:id="rId28"/>
    <p:sldLayoutId id="2147483797" r:id="rId29"/>
    <p:sldLayoutId id="2147483798" r:id="rId30"/>
    <p:sldLayoutId id="214748379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5000"/>
        </a:lnSpc>
        <a:spcBef>
          <a:spcPct val="0"/>
        </a:spcBef>
        <a:buNone/>
        <a:defRPr sz="2799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59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126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657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  <p15:guide id="11" orient="horz" pos="2160" userDrawn="1">
          <p15:clr>
            <a:srgbClr val="F26B43"/>
          </p15:clr>
        </p15:guide>
        <p15:guide id="1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6791" y="2360979"/>
            <a:ext cx="9435241" cy="1788101"/>
          </a:xfrm>
        </p:spPr>
        <p:txBody>
          <a:bodyPr rtlCol="0">
            <a:no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РАБОТА 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потребности в кормах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82101" y="4170660"/>
            <a:ext cx="9429931" cy="1788101"/>
          </a:xfrm>
        </p:spPr>
        <p:txBody>
          <a:bodyPr rtlCol="0">
            <a:noAutofit/>
          </a:bodyPr>
          <a:lstStyle/>
          <a:p>
            <a:pPr rtl="0">
              <a:lnSpc>
                <a:spcPct val="10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pPr rtl="0">
              <a:lnSpc>
                <a:spcPct val="100000"/>
              </a:lnSpc>
            </a:pPr>
            <a:r>
              <a:rPr lang="ky-KG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Жобонов</a:t>
            </a:r>
            <a:r>
              <a:rPr lang="ky-KG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Нуржигит КИ23-08б</a:t>
            </a:r>
            <a:b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b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Романова Дарья</a:t>
            </a:r>
            <a:endParaRPr lang="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9CC5A-96B2-9DE5-6C47-22DB9455FF39}"/>
              </a:ext>
            </a:extLst>
          </p:cNvPr>
          <p:cNvSpPr txBox="1"/>
          <p:nvPr/>
        </p:nvSpPr>
        <p:spPr>
          <a:xfrm>
            <a:off x="5021072" y="5986145"/>
            <a:ext cx="2146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Красноярск 2026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54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  ТРЕБОВАНИЯ</a:t>
            </a:r>
            <a:endParaRPr lang="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8883" y="1803400"/>
            <a:ext cx="5739625" cy="426720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Разработайте программу, которая рассчитывает потребность в кормах для животных на ферме. Используя структуру, программа должна хранить информацию о виде животного, суточной норме корма на одну голову и общем поголовье. Используя циклы, фермер сможет вводить данные по различным видам животных, а программа будет рассчитывать и выводить общую потребность в кормах за определенный период.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246540" y="1803400"/>
            <a:ext cx="4536504" cy="426720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lvl="0" algn="just"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Запрашивать данные по видам животных.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Хранить информацию в структуре.</a:t>
            </a:r>
          </a:p>
          <a:p>
            <a:pPr lvl="0" algn="just"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Запрашивать период (в днях), на который нужно рассчитать корма.</a:t>
            </a:r>
          </a:p>
          <a:p>
            <a:pPr lvl="0" algn="just"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Рассчитать общую потребность в кормах за период.</a:t>
            </a:r>
          </a:p>
          <a:p>
            <a:pPr lvl="0" algn="just"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Вывести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399223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РОЛЕЙ</a:t>
            </a:r>
            <a:endParaRPr lang="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076" y="1767578"/>
            <a:ext cx="3087251" cy="7112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АНАЛИТИК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85076" y="2478778"/>
            <a:ext cx="3087252" cy="356408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требований задания, составление алгоритма и блок-схемы, контроль соответствия финального решения  заданию.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Текст 2"/>
          <p:cNvSpPr>
            <a:spLocks noGrp="1"/>
          </p:cNvSpPr>
          <p:nvPr>
            <p:ph type="body" sz="quarter" idx="3"/>
          </p:nvPr>
        </p:nvSpPr>
        <p:spPr>
          <a:xfrm>
            <a:off x="4444408" y="1767578"/>
            <a:ext cx="3138163" cy="7112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👨‍💻 ПРОГРАММИСТ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446966" y="2486860"/>
            <a:ext cx="3138163" cy="35560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архитектуры приложения, написание основного программного кода на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реализация логики работы со структурами данных.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Текст 2"/>
          <p:cNvSpPr>
            <a:spLocks noGrp="1"/>
          </p:cNvSpPr>
          <p:nvPr>
            <p:ph type="body" idx="4294967295"/>
          </p:nvPr>
        </p:nvSpPr>
        <p:spPr>
          <a:xfrm>
            <a:off x="8254652" y="1767578"/>
            <a:ext cx="3249097" cy="7112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📋 ТЕСТИРОВЩИК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Объект 5"/>
          <p:cNvSpPr txBox="1">
            <a:spLocks/>
          </p:cNvSpPr>
          <p:nvPr/>
        </p:nvSpPr>
        <p:spPr>
          <a:xfrm>
            <a:off x="8254652" y="2486860"/>
            <a:ext cx="3249098" cy="3556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функционального тестирования, проверка корректности расчётов, валидации ввода и сохранения файлов. Подготовка отчётной документации.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08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9876" y="332656"/>
            <a:ext cx="9751060" cy="691480"/>
          </a:xfrm>
        </p:spPr>
        <p:txBody>
          <a:bodyPr rtlCol="0">
            <a:normAutofit/>
          </a:bodyPr>
          <a:lstStyle/>
          <a:p>
            <a:pPr algn="ctr" rt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И АЛГОРИТМ</a:t>
            </a:r>
            <a:endParaRPr lang="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2"/>
          <p:cNvSpPr txBox="1">
            <a:spLocks/>
          </p:cNvSpPr>
          <p:nvPr/>
        </p:nvSpPr>
        <p:spPr>
          <a:xfrm>
            <a:off x="437081" y="1631752"/>
            <a:ext cx="3505761" cy="711200"/>
          </a:xfrm>
          <a:prstGeom prst="rect">
            <a:avLst/>
          </a:prstGeom>
        </p:spPr>
        <p:txBody>
          <a:bodyPr rtlCol="0" anchor="ctr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 алгоритма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Текст 2"/>
          <p:cNvSpPr txBox="1">
            <a:spLocks/>
          </p:cNvSpPr>
          <p:nvPr/>
        </p:nvSpPr>
        <p:spPr>
          <a:xfrm>
            <a:off x="4222204" y="1628800"/>
            <a:ext cx="3616863" cy="711200"/>
          </a:xfrm>
          <a:prstGeom prst="rect">
            <a:avLst/>
          </a:prstGeom>
        </p:spPr>
        <p:txBody>
          <a:bodyPr rtlCol="0" anchor="ctr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данных</a:t>
            </a:r>
          </a:p>
        </p:txBody>
      </p:sp>
      <p:sp>
        <p:nvSpPr>
          <p:cNvPr id="7" name="Объект 3"/>
          <p:cNvSpPr txBox="1">
            <a:spLocks/>
          </p:cNvSpPr>
          <p:nvPr/>
        </p:nvSpPr>
        <p:spPr>
          <a:xfrm>
            <a:off x="4218308" y="2340000"/>
            <a:ext cx="3620759" cy="32492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Animal 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species: str;     //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 животного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daily_rate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float;    //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суточная норма корма на одну голову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count: int     // </a:t>
            </a:r>
            <a:r>
              <a:rPr lang="ky-KG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общее</a:t>
            </a:r>
            <a:r>
              <a:rPr lang="ky-K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y-KG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поголовье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Текст 2"/>
          <p:cNvSpPr txBox="1">
            <a:spLocks/>
          </p:cNvSpPr>
          <p:nvPr/>
        </p:nvSpPr>
        <p:spPr>
          <a:xfrm>
            <a:off x="8114532" y="1628800"/>
            <a:ext cx="3616862" cy="711200"/>
          </a:xfrm>
          <a:prstGeom prst="rect">
            <a:avLst/>
          </a:prstGeom>
        </p:spPr>
        <p:txBody>
          <a:bodyPr rtlCol="0" anchor="ctr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B1DCF0-64FA-19B7-A1FF-5A5E8E36F829}"/>
                  </a:ext>
                </a:extLst>
              </p:cNvPr>
              <p:cNvSpPr txBox="1"/>
              <p:nvPr/>
            </p:nvSpPr>
            <p:spPr>
              <a:xfrm>
                <a:off x="8110636" y="2340000"/>
                <a:ext cx="3620759" cy="118795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𝑑𝑎𝑖𝑙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𝑟𝑎𝑡𝑒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𝑐𝑜𝑢𝑛𝑡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𝑑𝑎𝑦𝑠</m:t>
                            </m:r>
                          </m:e>
                        </m:d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ky-KG" b="0" i="0" smtClean="0">
                        <a:latin typeface="Cambria Math" panose="02040503050406030204" pitchFamily="18" charset="0"/>
                      </a:rPr>
                      <m:t>где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−  ко</m:t>
                    </m:r>
                    <m:r>
                      <a:rPr lang="ky-KG" b="0" i="0" smtClean="0">
                        <a:latin typeface="Cambria Math" panose="02040503050406030204" pitchFamily="18" charset="0"/>
                      </a:rPr>
                      <m:t>л−во видов животных,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days</m:t>
                    </m:r>
                    <m:r>
                      <a:rPr lang="ky-KG" b="0" i="0" smtClean="0">
                        <a:latin typeface="Cambria Math" panose="02040503050406030204" pitchFamily="18" charset="0"/>
                      </a:rPr>
                      <m:t> −период в днях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B1DCF0-64FA-19B7-A1FF-5A5E8E36F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636" y="2340000"/>
                <a:ext cx="3620759" cy="1187954"/>
              </a:xfrm>
              <a:prstGeom prst="rect">
                <a:avLst/>
              </a:prstGeom>
              <a:blipFill>
                <a:blip r:embed="rId2"/>
                <a:stretch>
                  <a:fillRect l="-1345" t="-36735" b="-117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329D1FD-5DE7-08A8-C759-B7F22877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2" y="2340000"/>
            <a:ext cx="3505761" cy="324924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74234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 rt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</a:t>
            </a:r>
            <a:endParaRPr lang="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59689" y="1803400"/>
            <a:ext cx="3312368" cy="7112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59689" y="2514600"/>
            <a:ext cx="3312368" cy="35560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язык реализации.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 f-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dataclass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аннотации типов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Текст 2"/>
          <p:cNvSpPr>
            <a:spLocks noGrp="1"/>
          </p:cNvSpPr>
          <p:nvPr>
            <p:ph type="body" sz="quarter" idx="3"/>
          </p:nvPr>
        </p:nvSpPr>
        <p:spPr>
          <a:xfrm>
            <a:off x="4160089" y="1819564"/>
            <a:ext cx="3455986" cy="7112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STORAGE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160090" y="2530764"/>
            <a:ext cx="3456384" cy="35560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в файле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animal.json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(через модуль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обеспечения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персистентности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списка животных между запусками программы.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Текст 2"/>
          <p:cNvSpPr>
            <a:spLocks noGrp="1"/>
          </p:cNvSpPr>
          <p:nvPr>
            <p:ph type="body" idx="4294967295"/>
          </p:nvPr>
        </p:nvSpPr>
        <p:spPr>
          <a:xfrm>
            <a:off x="7904108" y="1819275"/>
            <a:ext cx="3875131" cy="7112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TOOLS</a:t>
            </a:r>
          </a:p>
        </p:txBody>
      </p:sp>
      <p:sp>
        <p:nvSpPr>
          <p:cNvPr id="18" name="Объект 5"/>
          <p:cNvSpPr txBox="1">
            <a:spLocks/>
          </p:cNvSpPr>
          <p:nvPr/>
        </p:nvSpPr>
        <p:spPr>
          <a:xfrm>
            <a:off x="7904506" y="2530764"/>
            <a:ext cx="3878538" cy="3556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Studio, ручное тестирование по тест-кейсам.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8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4012" y="116632"/>
            <a:ext cx="10960800" cy="972373"/>
          </a:xfrm>
        </p:spPr>
        <p:txBody>
          <a:bodyPr rtlCol="0" anchor="ctr"/>
          <a:lstStyle/>
          <a:p>
            <a:pPr algn="ctr" rt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</a:t>
            </a:r>
            <a:endParaRPr lang="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3094816"/>
              </p:ext>
            </p:extLst>
          </p:nvPr>
        </p:nvGraphicFramePr>
        <p:xfrm>
          <a:off x="1125860" y="938275"/>
          <a:ext cx="10081120" cy="5498951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790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061">
                <a:tc>
                  <a:txBody>
                    <a:bodyPr/>
                    <a:lstStyle/>
                    <a:p>
                      <a:pPr algn="ctr" rtl="0"/>
                      <a:r>
                        <a:rPr lang="ru" sz="2000" dirty="0"/>
                        <a:t>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2000" dirty="0"/>
                        <a:t>Назначение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inputOneAnimal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Добавление</a:t>
                      </a:r>
                      <a:r>
                        <a:rPr lang="ky-KG" sz="1600" dirty="0">
                          <a:effectLst/>
                        </a:rPr>
                        <a:t> одного вида </a:t>
                      </a:r>
                      <a:r>
                        <a:rPr lang="ky-KG" sz="1600" dirty="0" err="1">
                          <a:effectLst/>
                        </a:rPr>
                        <a:t>животных</a:t>
                      </a:r>
                      <a:endParaRPr lang="ky-KG" sz="1600" dirty="0"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inputAnimalsBatch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Пакетный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ввод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N </a:t>
                      </a:r>
                      <a:r>
                        <a:rPr lang="ky-KG" sz="1600" dirty="0" err="1">
                          <a:effectLst/>
                        </a:rPr>
                        <a:t>видов</a:t>
                      </a:r>
                      <a:r>
                        <a:rPr lang="ky-KG" sz="1600" dirty="0">
                          <a:effectLst/>
                        </a:rPr>
                        <a:t> (цикл </a:t>
                      </a:r>
                      <a:r>
                        <a:rPr lang="en-US" sz="1600" dirty="0">
                          <a:effectLst/>
                        </a:rPr>
                        <a:t>for</a:t>
                      </a:r>
                      <a:r>
                        <a:rPr lang="ky-KG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showAnimals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Вывод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таблицы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со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списком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животных</a:t>
                      </a:r>
                      <a:endParaRPr lang="ru-RU" sz="1600" dirty="0"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deleteAnimal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Удаление</a:t>
                      </a:r>
                      <a:r>
                        <a:rPr lang="ky-KG" sz="1600" dirty="0">
                          <a:effectLst/>
                        </a:rPr>
                        <a:t> вида </a:t>
                      </a:r>
                      <a:r>
                        <a:rPr lang="ky-KG" sz="1600" dirty="0" err="1">
                          <a:effectLst/>
                        </a:rPr>
                        <a:t>животных</a:t>
                      </a:r>
                      <a:r>
                        <a:rPr lang="ky-KG" sz="1600" dirty="0">
                          <a:effectLst/>
                        </a:rPr>
                        <a:t> по </a:t>
                      </a:r>
                      <a:r>
                        <a:rPr lang="ky-KG" sz="1600" dirty="0" err="1">
                          <a:effectLst/>
                        </a:rPr>
                        <a:t>номеру</a:t>
                      </a:r>
                      <a:endParaRPr lang="ru-RU" sz="1600" dirty="0"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60317599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printResults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Вывод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результата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расчета</a:t>
                      </a:r>
                      <a:r>
                        <a:rPr lang="ky-KG" sz="1600" dirty="0">
                          <a:effectLst/>
                        </a:rPr>
                        <a:t> на экран</a:t>
                      </a:r>
                      <a:endParaRPr lang="ru-RU" sz="1600" dirty="0"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444976818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calculateTotalFeed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Расчет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общей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потребности</a:t>
                      </a:r>
                      <a:r>
                        <a:rPr lang="ky-KG" sz="1600" dirty="0">
                          <a:effectLst/>
                        </a:rPr>
                        <a:t> в </a:t>
                      </a:r>
                      <a:r>
                        <a:rPr lang="ky-KG" sz="1600" dirty="0" err="1">
                          <a:effectLst/>
                        </a:rPr>
                        <a:t>кормах</a:t>
                      </a:r>
                      <a:r>
                        <a:rPr lang="ky-KG" sz="1600" dirty="0">
                          <a:effectLst/>
                        </a:rPr>
                        <a:t> за </a:t>
                      </a:r>
                      <a:r>
                        <a:rPr lang="ky-KG" sz="1600" dirty="0" err="1">
                          <a:effectLst/>
                        </a:rPr>
                        <a:t>период</a:t>
                      </a:r>
                      <a:endParaRPr lang="ru-RU" sz="1600" dirty="0"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7194501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saveReport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Сохранение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отчета</a:t>
                      </a:r>
                      <a:r>
                        <a:rPr lang="ky-KG" sz="1600" dirty="0">
                          <a:effectLst/>
                        </a:rPr>
                        <a:t> в .</a:t>
                      </a:r>
                      <a:r>
                        <a:rPr lang="en-US" sz="1600" dirty="0">
                          <a:effectLst/>
                        </a:rPr>
                        <a:t>txt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5508579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loadAnimals</a:t>
                      </a:r>
                      <a:r>
                        <a:rPr lang="en-US" sz="1600" dirty="0">
                          <a:effectLst/>
                        </a:rPr>
                        <a:t>() / </a:t>
                      </a:r>
                      <a:r>
                        <a:rPr lang="en-US" sz="1600" dirty="0" err="1">
                          <a:effectLst/>
                        </a:rPr>
                        <a:t>saveAnimals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Персистентность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через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JSON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869739740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inputInt</a:t>
                      </a:r>
                      <a:r>
                        <a:rPr lang="en-US" sz="1600" dirty="0">
                          <a:effectLst/>
                        </a:rPr>
                        <a:t>() / </a:t>
                      </a:r>
                      <a:r>
                        <a:rPr lang="en-US" sz="1600" dirty="0" err="1">
                          <a:effectLst/>
                        </a:rPr>
                        <a:t>inputFloat</a:t>
                      </a:r>
                      <a:r>
                        <a:rPr lang="en-US" sz="1600" dirty="0">
                          <a:effectLst/>
                        </a:rPr>
                        <a:t>() / </a:t>
                      </a:r>
                      <a:r>
                        <a:rPr lang="en-US" sz="1600" dirty="0" err="1">
                          <a:effectLst/>
                        </a:rPr>
                        <a:t>inputYesNo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Валидация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пользовательского</a:t>
                      </a:r>
                      <a:r>
                        <a:rPr lang="ky-KG" sz="1600" dirty="0">
                          <a:effectLst/>
                        </a:rPr>
                        <a:t> </a:t>
                      </a:r>
                      <a:r>
                        <a:rPr lang="ky-KG" sz="1600" dirty="0" err="1">
                          <a:effectLst/>
                        </a:rPr>
                        <a:t>ввода</a:t>
                      </a:r>
                      <a:endParaRPr lang="en-US" sz="1600" dirty="0"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2930835802"/>
                  </a:ext>
                </a:extLst>
              </a:tr>
              <a:tr h="500989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showMenu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y-KG" sz="1600" dirty="0" err="1">
                          <a:effectLst/>
                        </a:rPr>
                        <a:t>Главное</a:t>
                      </a:r>
                      <a:r>
                        <a:rPr lang="ky-KG" sz="1600" dirty="0">
                          <a:effectLst/>
                        </a:rPr>
                        <a:t> меню програмы</a:t>
                      </a:r>
                      <a:endParaRPr lang="en-US" sz="1600" dirty="0"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4162374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77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1197868" y="201476"/>
            <a:ext cx="9751060" cy="1168400"/>
          </a:xfrm>
        </p:spPr>
        <p:txBody>
          <a:bodyPr rtlCol="0"/>
          <a:lstStyle/>
          <a:p>
            <a:pPr algn="ctr" rtl="0"/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</a:t>
            </a:r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341884" y="1551484"/>
            <a:ext cx="4896544" cy="792088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 программы с подсказками</a:t>
            </a:r>
          </a:p>
        </p:txBody>
      </p:sp>
      <p:sp>
        <p:nvSpPr>
          <p:cNvPr id="6" name="Объект 13"/>
          <p:cNvSpPr txBox="1">
            <a:spLocks/>
          </p:cNvSpPr>
          <p:nvPr/>
        </p:nvSpPr>
        <p:spPr>
          <a:xfrm>
            <a:off x="7462564" y="1551484"/>
            <a:ext cx="4299465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Пакетный ввод 2-х книг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44480A-11AE-F629-B937-43B14FC0D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92" y="2199530"/>
            <a:ext cx="3580065" cy="310698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47093F-5370-7589-634C-753114D7A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32" y="2199530"/>
            <a:ext cx="4336833" cy="31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6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1312490" y="0"/>
            <a:ext cx="9751060" cy="1168400"/>
          </a:xfrm>
        </p:spPr>
        <p:txBody>
          <a:bodyPr rtlCol="0"/>
          <a:lstStyle/>
          <a:p>
            <a:pPr algn="ctr" rtl="0"/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РАСЧЁТА</a:t>
            </a:r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701924" y="1061785"/>
            <a:ext cx="3592304" cy="538472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ky-K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асчёт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потребности в корме</a:t>
            </a:r>
          </a:p>
        </p:txBody>
      </p:sp>
      <p:sp>
        <p:nvSpPr>
          <p:cNvPr id="6" name="Объект 13"/>
          <p:cNvSpPr txBox="1">
            <a:spLocks/>
          </p:cNvSpPr>
          <p:nvPr/>
        </p:nvSpPr>
        <p:spPr>
          <a:xfrm>
            <a:off x="7246540" y="1204213"/>
            <a:ext cx="3817010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списка всех животных</a:t>
            </a:r>
          </a:p>
        </p:txBody>
      </p:sp>
      <p:sp>
        <p:nvSpPr>
          <p:cNvPr id="11" name="Объект 13"/>
          <p:cNvSpPr txBox="1">
            <a:spLocks/>
          </p:cNvSpPr>
          <p:nvPr/>
        </p:nvSpPr>
        <p:spPr>
          <a:xfrm>
            <a:off x="1562883" y="3920008"/>
            <a:ext cx="3173604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отчёта в файл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5AD3D3-C3C4-6A1D-965E-169FC0E07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68" y="1535820"/>
            <a:ext cx="2791215" cy="213389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261E88-8FA5-A1FD-24A0-F69C84A76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805" y="1628979"/>
            <a:ext cx="3610479" cy="152421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00F19CC-9348-D07D-27A0-0F9C1D679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098" y="4057614"/>
            <a:ext cx="3491679" cy="23632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36EED6-1F70-A73F-BD81-C62EE3437898}"/>
              </a:ext>
            </a:extLst>
          </p:cNvPr>
          <p:cNvSpPr txBox="1"/>
          <p:nvPr/>
        </p:nvSpPr>
        <p:spPr>
          <a:xfrm>
            <a:off x="7221652" y="3613771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</a:t>
            </a:r>
            <a:r>
              <a:rPr lang="ky-K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y-KG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списка</a:t>
            </a:r>
            <a:r>
              <a:rPr lang="ky-K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y-KG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животных</a:t>
            </a:r>
            <a:r>
              <a:rPr lang="ky-K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файл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42A6256-63AF-69FC-9498-C5C99C8D9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490" y="4351865"/>
            <a:ext cx="3858163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8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8882" y="112541"/>
            <a:ext cx="9751060" cy="720847"/>
          </a:xfrm>
        </p:spPr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01025641"/>
              </p:ext>
            </p:extLst>
          </p:nvPr>
        </p:nvGraphicFramePr>
        <p:xfrm>
          <a:off x="738658" y="975602"/>
          <a:ext cx="9676234" cy="4058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0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099">
                <a:tc>
                  <a:txBody>
                    <a:bodyPr/>
                    <a:lstStyle/>
                    <a:p>
                      <a:pPr algn="ctr" rtl="0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Тест-кейс</a:t>
                      </a:r>
                      <a:endParaRPr lang="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  <a:endParaRPr lang="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09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Валидация ввода: проверка на отрицательные числа и некорректный тип данных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54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Корректность расчётов: ручной пересчёт (норма × поголовье × дни) совпадает с программным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09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Файловая система: данные корректно пишутся и читаются из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.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txt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4547">
                <a:tc>
                  <a:txBody>
                    <a:bodyPr/>
                    <a:lstStyle/>
                    <a:p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Персистентность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список животных сохраняется между запусками через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animal.json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60317599"/>
                  </a:ext>
                </a:extLst>
              </a:tr>
              <a:tr h="49209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Удаление: некорректные номера (0, больше длины списка) отклоняются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7194501"/>
                  </a:ext>
                </a:extLst>
              </a:tr>
              <a:tr h="49209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Подтверждение да/нет: некорректный ввод переспрашивается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5508579"/>
                  </a:ext>
                </a:extLst>
              </a:tr>
            </a:tbl>
          </a:graphicData>
        </a:graphic>
      </p:graphicFrame>
      <p:sp>
        <p:nvSpPr>
          <p:cNvPr id="5" name="Объект 13"/>
          <p:cNvSpPr>
            <a:spLocks noGrp="1"/>
          </p:cNvSpPr>
          <p:nvPr>
            <p:ph sz="half" idx="2"/>
          </p:nvPr>
        </p:nvSpPr>
        <p:spPr>
          <a:xfrm>
            <a:off x="738658" y="529936"/>
            <a:ext cx="3267050" cy="445666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тестирование: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13"/>
          <p:cNvSpPr>
            <a:spLocks noGrp="1"/>
          </p:cNvSpPr>
          <p:nvPr>
            <p:ph idx="4294967295"/>
          </p:nvPr>
        </p:nvSpPr>
        <p:spPr>
          <a:xfrm>
            <a:off x="738658" y="5016519"/>
            <a:ext cx="3024188" cy="395417"/>
          </a:xfrm>
        </p:spPr>
        <p:txBody>
          <a:bodyPr rtlCol="0"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проекта: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14358"/>
              </p:ext>
            </p:extLst>
          </p:nvPr>
        </p:nvGraphicFramePr>
        <p:xfrm>
          <a:off x="738658" y="5411936"/>
          <a:ext cx="9710986" cy="104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042">
                  <a:extLst>
                    <a:ext uri="{9D8B030D-6E8A-4147-A177-3AD203B41FA5}">
                      <a16:colId xmlns:a16="http://schemas.microsoft.com/office/drawing/2014/main" val="1682189091"/>
                    </a:ext>
                  </a:extLst>
                </a:gridCol>
                <a:gridCol w="4155000">
                  <a:extLst>
                    <a:ext uri="{9D8B030D-6E8A-4147-A177-3AD203B41FA5}">
                      <a16:colId xmlns:a16="http://schemas.microsoft.com/office/drawing/2014/main" val="1897790375"/>
                    </a:ext>
                  </a:extLst>
                </a:gridCol>
                <a:gridCol w="2840944">
                  <a:extLst>
                    <a:ext uri="{9D8B030D-6E8A-4147-A177-3AD203B41FA5}">
                      <a16:colId xmlns:a16="http://schemas.microsoft.com/office/drawing/2014/main" val="2444419550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ctr" rtl="0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Ошибок компиляции</a:t>
                      </a:r>
                      <a:endParaRPr lang="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Покрытие требований задачи</a:t>
                      </a:r>
                      <a:endParaRPr lang="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  <a:endParaRPr lang="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746085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тест-кейсы пройдены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507852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45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1218883" y="352204"/>
            <a:ext cx="9751060" cy="623998"/>
          </a:xfrm>
        </p:spPr>
        <p:txBody>
          <a:bodyPr rtlCol="0">
            <a:norm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lang="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229549" y="1556792"/>
            <a:ext cx="9751060" cy="2736304"/>
          </a:xfrm>
        </p:spPr>
        <p:txBody>
          <a:bodyPr rtlCol="0">
            <a:noAutofit/>
          </a:bodyPr>
          <a:lstStyle/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консольное приложение на Python для расчёта потребности в кормах на ферме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структура данных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dataclass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хранения информации о виде животных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ввод данных с использованием циклов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расчёт общей потребности в кормах по формуле Total = норма × поголовье × дни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удобный консольный интерфейс с подсказками и валидацией</a:t>
            </a:r>
          </a:p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Дополнительно: сохранение в файл, отчёты,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персистентность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JSON</a:t>
            </a:r>
            <a:endParaRPr lang="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229549" y="1120565"/>
            <a:ext cx="4373116" cy="45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выполнения работы: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13"/>
          <p:cNvSpPr txBox="1">
            <a:spLocks/>
          </p:cNvSpPr>
          <p:nvPr/>
        </p:nvSpPr>
        <p:spPr>
          <a:xfrm>
            <a:off x="1218883" y="4896314"/>
            <a:ext cx="9751060" cy="1485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 на Python со структурами данных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dataclass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Составление тест-кейсов и тестирование ПО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файлами (JSON, TXT) и обработка исключений</a:t>
            </a:r>
          </a:p>
          <a:p>
            <a:endParaRPr lang="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13"/>
          <p:cNvSpPr txBox="1">
            <a:spLocks/>
          </p:cNvSpPr>
          <p:nvPr/>
        </p:nvSpPr>
        <p:spPr>
          <a:xfrm>
            <a:off x="1229549" y="4482715"/>
            <a:ext cx="4373116" cy="413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навыки: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40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27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Елена">
  <a:themeElements>
    <a:clrScheme name="Елена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Тема Offic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1360476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706496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83ED4759-CFDD-43F0-817C-11D919719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003AC8-209A-4321-A17C-1B7A206433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D80E12-3BE9-4746-820E-FFB249F467F2}">
  <ds:schemaRefs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4873beb7-5857-4685-be1f-d57550cc96cc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426</TotalTime>
  <Words>607</Words>
  <Application>Microsoft Office PowerPoint</Application>
  <PresentationFormat>Произвольный</PresentationFormat>
  <Paragraphs>104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Constantia</vt:lpstr>
      <vt:lpstr>Neue Haas Grotesk Text Pro</vt:lpstr>
      <vt:lpstr>Times New Roman</vt:lpstr>
      <vt:lpstr>Елена</vt:lpstr>
      <vt:lpstr>ПРАКТИЧЕСКАЯ РАБОТА  Расчет потребности в кормах </vt:lpstr>
      <vt:lpstr>ЗАДАЧИ И  ТРЕБОВАНИЯ</vt:lpstr>
      <vt:lpstr>РАСПРЕДЕЛЕНИЕ РОЛЕЙ</vt:lpstr>
      <vt:lpstr>СТРУКТУРА И АЛГОРИТМ</vt:lpstr>
      <vt:lpstr>ТЕХНОЛОГИЧЕСКИЙ СТЕК</vt:lpstr>
      <vt:lpstr>КЛЮЧЕВЫЕ ФУНКЦИИ</vt:lpstr>
      <vt:lpstr>ДЕМОНСТРАЦИЯ РАБОТЫ</vt:lpstr>
      <vt:lpstr>РЕЗУЛЬТАТ РАСЧЁТА</vt:lpstr>
      <vt:lpstr>ТЕСТИРОВАНИЕ</vt:lpstr>
      <vt:lpstr>ВЫВОД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Макет заголовка</dc:title>
  <dc:creator>Viktor</dc:creator>
  <cp:lastModifiedBy>Dmitry Siberson</cp:lastModifiedBy>
  <cp:revision>34</cp:revision>
  <dcterms:created xsi:type="dcterms:W3CDTF">2026-06-10T03:53:54Z</dcterms:created>
  <dcterms:modified xsi:type="dcterms:W3CDTF">2026-09-20T18:32:50Z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